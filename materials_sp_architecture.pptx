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8000"/>
                </a:solidFill>
                <a:latin typeface="Arial"/>
              </a:defRPr>
            </a:pPr>
            <a:r>
              <a:t>MaterialsSP App</a:t>
            </a:r>
          </a:p>
          <a:p>
            <a:pPr algn="ctr">
              <a:spcBef>
                <a:spcPts val="1500"/>
              </a:spcBef>
              <a:defRPr sz="2400">
                <a:solidFill>
                  <a:srgbClr val="F3F4F6"/>
                </a:solidFill>
                <a:latin typeface="Arial"/>
              </a:defRPr>
            </a:pPr>
            <a:r>
              <a:t>Arquitectura &amp; Integración KMP Clean</a:t>
            </a:r>
          </a:p>
          <a:p>
            <a:pPr algn="ctr">
              <a:spcBef>
                <a:spcPts val="30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Estructura detallada y flujo offline-first de carpetas Core y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8000"/>
                </a:solidFill>
                <a:latin typeface="Arial"/>
              </a:defRPr>
            </a:pPr>
            <a:r>
              <a:t>Capa de Presentación (UI &amp; Navegación)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AF"/>
                </a:solidFill>
              </a:defRPr>
            </a:pPr>
            <a:r>
              <a:t>Se encarga de renderizar la interfaz con Compose Multiplatform y gestionar los estados reactivos.</a:t>
            </a:r>
          </a:p>
          <a:p>
            <a:br/>
            <a:pPr>
              <a:spcBef>
                <a:spcPts val="1500"/>
              </a:spcBef>
              <a:defRPr sz="1600">
                <a:solidFill>
                  <a:srgbClr val="F3F4F6"/>
                </a:solidFill>
              </a:defRPr>
            </a:pPr>
            <a:r>
              <a:t>• La navegación central reside en 'core' para comunicar los módulos de características.</a:t>
            </a:r>
            <a:br/>
            <a:r>
              <a:t>• Las vistas específicas de features consumen ViewModels inyectados mediante Koin.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E5FF"/>
                </a:solidFill>
              </a:defRPr>
            </a:pPr>
            <a:r>
              <a:t>🔸 App.kt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Común - Inicia IndustrialTheme y NavigationRoot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🔸 NavigationRoot.kt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core/presentation/navigation - Levanta el flujo global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🔸 MainScreen.kt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core/presentation/navigation - BottomNavigation &amp; Tabs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🔸 CategoryScreen.kt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features/category/presentation - Interfaz de categorías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🔸 CategoryViewModel.kt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features/category/presentation - Gestión de UI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8A2BE2"/>
                </a:solidFill>
                <a:latin typeface="Arial"/>
              </a:defRPr>
            </a:pPr>
            <a:r>
              <a:t>Capa de Dominio (Reglas de Negocio)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AF"/>
                </a:solidFill>
              </a:defRPr>
            </a:pPr>
            <a:r>
              <a:t>La capa más interna de la aplicación. No tiene dependencias de librerías ni frameworks.</a:t>
            </a:r>
          </a:p>
          <a:p>
            <a:br/>
            <a:pPr>
              <a:spcBef>
                <a:spcPts val="1500"/>
              </a:spcBef>
              <a:defRPr sz="1600">
                <a:solidFill>
                  <a:srgbClr val="F3F4F6"/>
                </a:solidFill>
              </a:defRPr>
            </a:pPr>
            <a:r>
              <a:t>• Contiene reglas puras y modelos reutilizables.</a:t>
            </a:r>
            <a:br/>
            <a:r>
              <a:t>• Las interfaces (Repository) definen el contrato y desacoplan por completo los orígenes de datos.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A2BE2"/>
                </a:solidFill>
              </a:defRPr>
            </a:pPr>
            <a:r>
              <a:t>🟣 GetCategoriesUseCase.kt</a:t>
            </a:r>
          </a:p>
          <a:p>
            <a:pPr>
              <a:spcAft>
                <a:spcPts val="15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features/category/domain/use_case - Lógica de filtrado y búsqueda</a:t>
            </a:r>
          </a:p>
          <a:p>
            <a:pPr>
              <a:defRPr b="1" sz="1600">
                <a:solidFill>
                  <a:srgbClr val="8A2BE2"/>
                </a:solidFill>
              </a:defRPr>
            </a:pPr>
            <a:r>
              <a:t>🟣 CategoryRepository.kt</a:t>
            </a:r>
          </a:p>
          <a:p>
            <a:pPr>
              <a:spcAft>
                <a:spcPts val="15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features/category/domain/repository - Interfaz de abstracción</a:t>
            </a:r>
          </a:p>
          <a:p>
            <a:pPr>
              <a:defRPr b="1" sz="1600">
                <a:solidFill>
                  <a:srgbClr val="8A2BE2"/>
                </a:solidFill>
              </a:defRPr>
            </a:pPr>
            <a:r>
              <a:t>🟣 Category.kt</a:t>
            </a:r>
          </a:p>
          <a:p>
            <a:pPr>
              <a:spcAft>
                <a:spcPts val="15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features/category/domain/model - Modelo de dominio puro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E5FF"/>
                </a:solidFill>
                <a:latin typeface="Arial"/>
              </a:defRPr>
            </a:pPr>
            <a:r>
              <a:t>Capa de Datos (Persistencia &amp; Cloud)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AF"/>
                </a:solidFill>
              </a:defRPr>
            </a:pPr>
            <a:r>
              <a:t>Responsable de interactuar con la persistencia local (Room) y servidores externos (Supabase).</a:t>
            </a:r>
          </a:p>
          <a:p>
            <a:br/>
            <a:pPr>
              <a:spcBef>
                <a:spcPts val="1500"/>
              </a:spcBef>
              <a:defRPr sz="1600">
                <a:solidFill>
                  <a:srgbClr val="F3F4F6"/>
                </a:solidFill>
              </a:defRPr>
            </a:pPr>
            <a:r>
              <a:t>• Implementa la estrategia de almacenamiento offline-first.</a:t>
            </a:r>
            <a:br/>
            <a:r>
              <a:t>• Los Mappers traducen DTOs de red y entidades a modelos puros de dominio.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E5FF"/>
                </a:solidFill>
              </a:defRPr>
            </a:pPr>
            <a:r>
              <a:t>🔹 CategoryRepositoryImpl.kt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features/category/data/repository - Mediador y sincronizador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🔹 CategoryDao.kt / CategoryEntity.kt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features/category/data/local - Consultas SQL y tabla de Room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🔹 SupabaseCategoryDataSource.kt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features/category/data/remote - Cliente API Supabase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🔹 CategoryMapper.kt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features/category/data/mapper - Conversión bidireccional</a:t>
            </a:r>
          </a:p>
          <a:p>
            <a:pPr>
              <a:defRPr b="1" sz="1600">
                <a:solidFill>
                  <a:srgbClr val="00E5FF"/>
                </a:solidFill>
              </a:defRPr>
            </a:pPr>
            <a:r>
              <a:t>🔹 AppDatabase.kt / SupabaseClient.kt</a:t>
            </a:r>
          </a:p>
          <a:p>
            <a:pPr>
              <a:spcAft>
                <a:spcPts val="1000"/>
              </a:spcAft>
              <a:defRPr sz="1300">
                <a:solidFill>
                  <a:srgbClr val="9CA3AF"/>
                </a:solidFill>
              </a:defRPr>
            </a:pPr>
            <a:r>
              <a:t>      core/data/... - Base de datos y cliente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8000"/>
                </a:solidFill>
                <a:latin typeface="Arial"/>
              </a:defRPr>
            </a:pPr>
            <a:r>
              <a:t>Flujo de Sincronización Offline-First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3F4F6"/>
                </a:solidFill>
              </a:defRPr>
            </a:pPr>
            <a:r>
              <a:t>1. Carga de Caché Local Inmediata</a:t>
            </a:r>
          </a:p>
          <a:p>
            <a:pPr>
              <a:spcBef>
                <a:spcPts val="500"/>
              </a:spcBef>
              <a:defRPr sz="1400">
                <a:solidFill>
                  <a:srgbClr val="9CA3AF"/>
                </a:solidFill>
              </a:defRPr>
            </a:pPr>
            <a:r>
              <a:t>CategoryScreen solicita los datos al ViewModel, que abre un Flow con Room. Los datos guardados previamente se muestran al instante sin tiempos de espera.</a:t>
            </a:r>
          </a:p>
          <a:p>
            <a:pPr>
              <a:spcBef>
                <a:spcPts val="2000"/>
              </a:spcBef>
              <a:defRPr b="1" sz="1800">
                <a:solidFill>
                  <a:srgbClr val="F3F4F6"/>
                </a:solidFill>
              </a:defRPr>
            </a:pPr>
            <a:r>
              <a:t>2. Refresco Remoto Transparente</a:t>
            </a:r>
          </a:p>
          <a:p>
            <a:pPr>
              <a:spcBef>
                <a:spcPts val="500"/>
              </a:spcBef>
              <a:defRPr sz="1400">
                <a:solidFill>
                  <a:srgbClr val="9CA3AF"/>
                </a:solidFill>
              </a:defRPr>
            </a:pPr>
            <a:r>
              <a:t>El ViewModel lanza en paralelo un refresco en red. El repositorio descarga de Supabase Cloud la información más reciente de manera asíncrona.</a:t>
            </a:r>
          </a:p>
          <a:p>
            <a:pPr>
              <a:spcBef>
                <a:spcPts val="2000"/>
              </a:spcBef>
              <a:defRPr b="1" sz="1800">
                <a:solidFill>
                  <a:srgbClr val="F3F4F6"/>
                </a:solidFill>
              </a:defRPr>
            </a:pPr>
            <a:r>
              <a:t>3. Persistencia y Reactividad</a:t>
            </a:r>
          </a:p>
          <a:p>
            <a:pPr>
              <a:spcBef>
                <a:spcPts val="500"/>
              </a:spcBef>
              <a:defRPr sz="1400">
                <a:solidFill>
                  <a:srgbClr val="9CA3AF"/>
                </a:solidFill>
              </a:defRPr>
            </a:pPr>
            <a:r>
              <a:t>Los datos de red se guardan en Room local. Room detecta el cambio e informa de inmediato al Flow activo, actualizando la UI de manera automática y reactiva.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terials_sp_architecture_slide_1780063919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terials_sp_files_slide_17800642556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E5FF"/>
                </a:solidFill>
                <a:latin typeface="Arial"/>
              </a:defRPr>
            </a:pPr>
            <a:r>
              <a:t>¡Todo Listo para Escalar!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3F4F6"/>
                </a:solidFill>
                <a:latin typeface="Arial"/>
              </a:defRPr>
            </a:pPr>
            <a:r>
              <a:t>MaterialsSP cuenta con una arquitectura desacoplada, sólida y de alto rendimiento.</a:t>
            </a:r>
          </a:p>
          <a:p>
            <a:pPr algn="ctr">
              <a:spcBef>
                <a:spcPts val="30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Sube este archivo a Google Slides para compartirlo con tu equipo.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